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今天報告的主題是 HybridIdP 的 OIDC/OAuth2 驗證服務。核心目標是統一企業內登入與授權，降低風險與成本。接下來會先說明痛點，再談本專案角色與流程，最後說明投入與成效。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目前多系統各自處理登入與授權，治理規則不一致且難以稽核。每個系統重複實作高風險功能，成本與技術債累積。缺乏標準流程也讓跨系統整合變慢。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本專案是企業級 IdP 與授權中心，集中處理登入與 Token 管理。應用端不再自行處理密碼，只要遵循標準授權流程。這樣責任邊界清楚，治理也能集中落地。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這張圖說明角色邊界：Web 應用導向授權並驗證 Token，HybridIdP 負責登入、授權與稽核，API 端只接受合法 Token 並檢查 Scope。中央化治理可以降低風險並提升一致性。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Web 應用接入流程清楚：先導向登入與授權，完成後以授權碼換取 Token，再以 Token 呼叫 API。Scope 用於控制功能與資料範圍，避免超權。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這張流程圖是 PKCE 授權流程。App 導向登入後取得授權碼，再與 code verifier 一起換取 Token。PKCE 能降低授權碼被攔截與重放的風險。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OIDC 解決身分一致性，OAuth2 解決授權治理。這是標準化的核心價值：可治理、可擴充、可稽核。標準化也能降低未來整合成本。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本專案預設採 Authorization Code + PKCE，符合主流安全實務。這讓 Web 與行動應用都能安全登入。授權可搭配同意頁與 Scope 提示，確保可追溯。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系統對系統整合使用 Client Credentials，不涉及使用者登入。Scope 控制服務可用範圍，避免全權 Token。可搭配網段限制與配額降低濫用。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這是本專案的高階架構圖。Web 層由 ASP.NET Core 與 OpenIddict 承載協定流程，Application/Domain 層處理規則，Infrastructure 透過 EF Core 連接資料庫。分層設計能降低耦合並提升可維運性。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安全策略包含最小權限、多因子驗證與 Token 生命週期控管。Token 短效且可撤銷，降低外洩風險。所有授權行為可稽核追蹤，符合治理需求。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投入面分人力、時程與預算。人力涵蓋產品、架構、安全、後端、測試與維運。時程採四里程碑分段交付，降低切換風險。預算分建置與維運並對照效益。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成效可用授權成功率、接入效率與事件處置時效量化。HybridIdP 可作為企業共用驗證基礎設施，先完成核心流程再擴大導入，形成長期治理能力。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企業級 OIDC/OAuth2 驗證服務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E2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主管報告版簡報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為何現在需要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多系統分散驗證造成治理不一致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重複開發導致風險與成本同步增加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跨系統整合缺乏標準流程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本專案定位與角色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 IdP 與授權中心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統一登入、授權與 Token 管理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應用只需導向授權與驗證 Token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系統角色與邊界圖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91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應用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導向登入/授權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Token/Scope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463040"/>
            <a:ext cx="3566160" cy="22860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/ 授權 / Token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統一治理與稽核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017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服務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Token/Scope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提供受保護資源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2423160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423160"/>
            <a:ext cx="320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應用如何接入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導向統一登入與授權頁面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授權碼換取 Token 後呼叫 API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Scope 控制可用功能與資料範圍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授權流程總覽（PKCE）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21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App 導向登入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0116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21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使用者驗證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20116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121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授權碼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121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換取 Token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966960" y="20116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212140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呼叫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51760" y="2514600"/>
            <a:ext cx="457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514600"/>
            <a:ext cx="457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514600"/>
            <a:ext cx="457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2514600"/>
            <a:ext cx="4572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74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PKCE 保護授權碼交換安全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OIDC/OAuth2 核心價值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OIDC：確認身分，解決登入一致性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OAuth2：控制權限，落實最小授權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標準化降低整合摩擦與長期成本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核心流程：使用者登入（PKCE）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本專案預設 Authorization Code + PKCE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降低授權碼攔截與重放風險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支援權限同意與可追溯授權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核心流程：系統對系統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 Client Credentials 進行服務間授權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Scope 控制可用權限範圍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可搭配配額與網路限制降低濫用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架構概覽與技術棧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Web.IdP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(ASP.NET Core)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463040"/>
            <a:ext cx="3474720" cy="9144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Core.Application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651760"/>
            <a:ext cx="3474720" cy="91440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Core.Domain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291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Infrastructure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(EF Core / DB)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228600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2286000"/>
            <a:ext cx="365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OpenIddict + OAuth/OIDC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授權端點 / Token / Consent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安全與治理設計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最小權限 + 多因子驗證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短效與撤銷機制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統一審計與事件追蹤能力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資源投入與時程建議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9784080" cy="0"/>
          </a:xfrm>
          <a:prstGeom prst="line">
            <a:avLst/>
          </a:prstGeom>
          <a:noFill/>
          <a:ln w="12700">
            <a:solidFill>
              <a:srgbClr val="4F6B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1828800" cy="1097280"/>
          </a:xfrm>
          <a:prstGeom prst="roundRect">
            <a:avLst/>
          </a:prstGeom>
          <a:solidFill>
            <a:srgbClr val="233B7A"/>
          </a:solidFill>
          <a:ln w="12700">
            <a:solidFill>
              <a:srgbClr val="4F6B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240280"/>
            <a:ext cx="1828800" cy="1097280"/>
          </a:xfrm>
          <a:prstGeom prst="roundRect">
            <a:avLst/>
          </a:prstGeom>
          <a:solidFill>
            <a:srgbClr val="233B7A"/>
          </a:solidFill>
          <a:ln w="12700">
            <a:solidFill>
              <a:srgbClr val="4F6B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331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系統整合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1828800" cy="1097280"/>
          </a:xfrm>
          <a:prstGeom prst="roundRect">
            <a:avLst/>
          </a:prstGeom>
          <a:solidFill>
            <a:srgbClr val="233B7A"/>
          </a:solidFill>
          <a:ln w="12700">
            <a:solidFill>
              <a:srgbClr val="4F6B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331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安全治理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0" y="2240280"/>
            <a:ext cx="1828800" cy="1097280"/>
          </a:xfrm>
          <a:prstGeom prst="roundRect">
            <a:avLst/>
          </a:prstGeom>
          <a:solidFill>
            <a:srgbClr val="233B7A"/>
          </a:solidFill>
          <a:ln w="12700">
            <a:solidFill>
              <a:srgbClr val="4F6B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331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擴大導入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人力：產品 / 架構 / 安全 / 後端 / 測試 / 維運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預算：建置與維運分離，對照可量化效益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成效與結論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81360" cy="4389120"/>
          </a:xfrm>
          <a:prstGeom prst="roundRect">
            <a:avLst/>
          </a:prstGeom>
          <a:solidFill>
            <a:srgbClr val="233B7A">
              <a:alpha val="90000"/>
            </a:srgbClr>
          </a:solidFill>
          <a:ln w="12700">
            <a:solidFill>
              <a:srgbClr val="4F6B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授權成功率與接入效率可量化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51560" y="324612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本專案可作為企業共用驗證基礎設施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12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先導入核心流程，再擴大導入範圍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HybridIdP 主管報告準備版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投影片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HybridIdP Executive Presentation</dc:title>
  <dc:subject>HybridIdP Executive Presentation</dc:subject>
  <dc:creator>HybridIdP Team</dc:creator>
  <cp:lastModifiedBy>HybridIdP Team</cp:lastModifiedBy>
  <cp:revision>1</cp:revision>
  <dcterms:created xsi:type="dcterms:W3CDTF">2026-02-15T02:56:14Z</dcterms:created>
  <dcterms:modified xsi:type="dcterms:W3CDTF">2026-02-15T02:56:14Z</dcterms:modified>
</cp:coreProperties>
</file>